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AFF1-61DB-CA5F-2461-31DB5B35F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EB5E5-B1C5-70D7-E448-95715CAA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A4530-4881-F893-1F0F-6960EF7C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673F-6FF8-A549-78CD-108E706B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F05E6-FE5E-C5A9-7BAA-E2312F57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7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A73E-0B5C-E751-86D8-A523BD17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A0AC2-C88B-4379-036C-0E96B245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46C40-A489-EDFC-0B17-1F104196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BBA6-AE22-F0FD-0EBA-D34E5701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6626-F23F-2CED-D719-B2DF0C57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3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2619-958F-820E-F148-72BFFFD9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EDBA2-02A4-63C1-3B93-3F6E7A20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BAAC5-CA8C-9A98-BA02-0E81FBDA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3561-FF63-52C1-36B1-D8267FBC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CB606-BCEF-35A8-18C8-E049ABE0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3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FDD4-A682-8ED3-971C-3EFB326E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130A-ACA6-5E13-F3ED-7BCE2D4A0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BAFF7-78D6-A099-93B4-E863130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A0D03-4CF3-CF0D-0985-7C20AC55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61705-2C6E-373B-B6D5-071F02B7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D14A3-6089-D501-9ADB-B2620300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DD2D-AAF4-C0C7-E32E-529D4832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96F12-BEE6-F455-AAB5-17657ABBB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AF352-BA57-10A4-B034-6ACEE50EE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CF01B-ACC1-257A-5204-CACF7EF95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5121F-957A-6F1A-1379-6B42C4A43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1DFB6-40E5-37A1-5ED4-A2AA706E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4E3F1-8E33-0C4F-B445-034571C5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26E82-5209-2A0A-CB22-BCF7D52A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8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2654B-7644-04C2-40AD-9A7EEBB01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19439-C153-DAA6-C307-CDBB5BB2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195E0-7418-DA1B-71E7-9C93A56D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3349E-95CC-816C-A58F-DEC50B0A9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A6FB6-C967-5D4A-9286-9C7CBD16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9A6B6-BE79-F02A-9E68-73FDECB8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0321A-FB89-770D-64D8-BD9A5C6A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2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CB19-3BCF-C83A-EF2A-84F3AB04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C00E-5727-E08B-2AC7-B3A0C1C8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ED650-A790-9F6B-B48E-5758ABFA3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F17D2-7990-53DC-9AD6-AE33D196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A3ECD-E5CB-600B-AEA3-FBFD2DC3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93E3D-1DDF-8602-C2D3-D8891934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9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B790-2BB0-DBBE-E051-D3654298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DF76F-158D-DB85-2C9D-993EE710B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E0BDE-0D3B-B980-DC30-7183F6365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2D08-805A-C0DF-4822-187FC03B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79A3C-012C-BA07-E7B1-A5DEDFD9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12663-ABC1-B6D7-7974-609B32FB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4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263C2-09FA-F767-12E2-1F9BDFC4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1E923-6F33-517D-002F-71B9A144E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C42CA-A491-8342-6CD5-0C5B8E33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93EB-9A32-EBEA-4472-70ACBD22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3F2B-772F-9A65-E130-6619FEE4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4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962A0-EBF3-3B0B-56D2-C81B133D2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2B79C-F317-6D35-200E-E0F10E153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96B9-8C2E-10FB-538E-085BFAC5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8D01-865A-21B6-1F95-28C9617D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6248-36C7-E6C7-CD86-60E28E1A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623D-A4A5-B92E-B1DB-AD70BCD8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2637F-3EF3-FA39-160A-8F03024FD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1DC21-048F-8E4A-CD3C-8FA17A228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1B92C-B13D-4A69-98B5-DA81EA7269B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EB57C-1231-D8AD-80B6-CEFCF1E9E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832E4-25A3-97F4-0E9A-B2529845A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AC449-ECD1-415B-A206-86C59308C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2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670321"/>
              </p:ext>
            </p:extLst>
          </p:nvPr>
        </p:nvGraphicFramePr>
        <p:xfrm>
          <a:off x="2213627" y="136139"/>
          <a:ext cx="3567135" cy="658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045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189045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89045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8531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853880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1693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91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07783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71766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3041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z 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8025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847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62A9B0-0DD1-E883-C62C-6E759D3BD350}"/>
              </a:ext>
            </a:extLst>
          </p:cNvPr>
          <p:cNvSpPr txBox="1"/>
          <p:nvPr/>
        </p:nvSpPr>
        <p:spPr>
          <a:xfrm>
            <a:off x="6411240" y="1342735"/>
            <a:ext cx="31518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b){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c = a + b;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y = 2;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z = foo(x, y);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0AA529-2C45-D2D3-193F-DE4757E5C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598912"/>
              </p:ext>
            </p:extLst>
          </p:nvPr>
        </p:nvGraphicFramePr>
        <p:xfrm>
          <a:off x="6255924" y="126229"/>
          <a:ext cx="3151862" cy="87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931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575931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305265">
                <a:tc>
                  <a:txBody>
                    <a:bodyPr/>
                    <a:lstStyle/>
                    <a:p>
                      <a:r>
                        <a:rPr lang="en-US" sz="1100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r>
                        <a:rPr lang="en-US" sz="1100" dirty="0"/>
                        <a:t>Stack Pointer (R1)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0x03F8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r>
                        <a:rPr lang="en-US" sz="1100" dirty="0"/>
                        <a:t>Program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0xC014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7DA6B50-F8C8-3B0D-A94E-94E30D72D314}"/>
              </a:ext>
            </a:extLst>
          </p:cNvPr>
          <p:cNvSpPr/>
          <p:nvPr/>
        </p:nvSpPr>
        <p:spPr>
          <a:xfrm flipH="1">
            <a:off x="9264649" y="4089401"/>
            <a:ext cx="1567537" cy="339434"/>
          </a:xfrm>
          <a:custGeom>
            <a:avLst/>
            <a:gdLst>
              <a:gd name="connsiteX0" fmla="*/ 0 w 1788699"/>
              <a:gd name="connsiteY0" fmla="*/ 0 h 497197"/>
              <a:gd name="connsiteX1" fmla="*/ 1495651 w 1788699"/>
              <a:gd name="connsiteY1" fmla="*/ 0 h 497197"/>
              <a:gd name="connsiteX2" fmla="*/ 1788699 w 1788699"/>
              <a:gd name="connsiteY2" fmla="*/ 248599 h 497197"/>
              <a:gd name="connsiteX3" fmla="*/ 1495651 w 1788699"/>
              <a:gd name="connsiteY3" fmla="*/ 497197 h 497197"/>
              <a:gd name="connsiteX4" fmla="*/ 0 w 1788699"/>
              <a:gd name="connsiteY4" fmla="*/ 497197 h 497197"/>
              <a:gd name="connsiteX5" fmla="*/ 0 w 1788699"/>
              <a:gd name="connsiteY5" fmla="*/ 0 h 497197"/>
              <a:gd name="connsiteX0" fmla="*/ 0 w 1845849"/>
              <a:gd name="connsiteY0" fmla="*/ 0 h 497197"/>
              <a:gd name="connsiteX1" fmla="*/ 1495651 w 1845849"/>
              <a:gd name="connsiteY1" fmla="*/ 0 h 497197"/>
              <a:gd name="connsiteX2" fmla="*/ 1845849 w 1845849"/>
              <a:gd name="connsiteY2" fmla="*/ 949 h 497197"/>
              <a:gd name="connsiteX3" fmla="*/ 1495651 w 1845849"/>
              <a:gd name="connsiteY3" fmla="*/ 497197 h 497197"/>
              <a:gd name="connsiteX4" fmla="*/ 0 w 1845849"/>
              <a:gd name="connsiteY4" fmla="*/ 497197 h 497197"/>
              <a:gd name="connsiteX5" fmla="*/ 0 w 1845849"/>
              <a:gd name="connsiteY5" fmla="*/ 0 h 4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849" h="497197">
                <a:moveTo>
                  <a:pt x="0" y="0"/>
                </a:moveTo>
                <a:lnTo>
                  <a:pt x="1495651" y="0"/>
                </a:lnTo>
                <a:lnTo>
                  <a:pt x="1845849" y="949"/>
                </a:lnTo>
                <a:lnTo>
                  <a:pt x="1495651" y="497197"/>
                </a:lnTo>
                <a:lnTo>
                  <a:pt x="0" y="497197"/>
                </a:lnTo>
                <a:lnTo>
                  <a:pt x="0" y="0"/>
                </a:lnTo>
                <a:close/>
              </a:path>
            </a:pathLst>
          </a:cu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break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6A3A71-DE14-1514-D8B1-82B2D1056252}"/>
              </a:ext>
            </a:extLst>
          </p:cNvPr>
          <p:cNvCxnSpPr/>
          <p:nvPr/>
        </p:nvCxnSpPr>
        <p:spPr>
          <a:xfrm>
            <a:off x="7016750" y="4089400"/>
            <a:ext cx="382270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55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345069"/>
              </p:ext>
            </p:extLst>
          </p:nvPr>
        </p:nvGraphicFramePr>
        <p:xfrm>
          <a:off x="2213627" y="136139"/>
          <a:ext cx="3567135" cy="658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045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189045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89045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a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b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c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8531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return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853880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51693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91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07783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71766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63041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z 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8025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847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62A9B0-0DD1-E883-C62C-6E759D3BD350}"/>
              </a:ext>
            </a:extLst>
          </p:cNvPr>
          <p:cNvSpPr txBox="1"/>
          <p:nvPr/>
        </p:nvSpPr>
        <p:spPr>
          <a:xfrm>
            <a:off x="6411240" y="1342735"/>
            <a:ext cx="31518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b){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c = a + b;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y = 2;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z = foo(x, y);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8F6F12-7026-BEAA-EF63-F07F70439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548334"/>
              </p:ext>
            </p:extLst>
          </p:nvPr>
        </p:nvGraphicFramePr>
        <p:xfrm>
          <a:off x="6255924" y="126229"/>
          <a:ext cx="3151862" cy="87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931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575931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305265">
                <a:tc>
                  <a:txBody>
                    <a:bodyPr/>
                    <a:lstStyle/>
                    <a:p>
                      <a:r>
                        <a:rPr lang="en-US" sz="1100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r>
                        <a:rPr lang="en-US" sz="1100" dirty="0"/>
                        <a:t>Stack Pointer (R1)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0x03F0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r>
                        <a:rPr lang="en-US" sz="1100" dirty="0"/>
                        <a:t>Program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0xC02A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  <p:sp>
        <p:nvSpPr>
          <p:cNvPr id="4" name="Arrow: Pentagon 4">
            <a:extLst>
              <a:ext uri="{FF2B5EF4-FFF2-40B4-BE49-F238E27FC236}">
                <a16:creationId xmlns:a16="http://schemas.microsoft.com/office/drawing/2014/main" id="{CCB50C02-03EA-7901-D3CC-1A56F4CF52D0}"/>
              </a:ext>
            </a:extLst>
          </p:cNvPr>
          <p:cNvSpPr/>
          <p:nvPr/>
        </p:nvSpPr>
        <p:spPr>
          <a:xfrm flipH="1">
            <a:off x="9264649" y="1962151"/>
            <a:ext cx="1567537" cy="339434"/>
          </a:xfrm>
          <a:custGeom>
            <a:avLst/>
            <a:gdLst>
              <a:gd name="connsiteX0" fmla="*/ 0 w 1788699"/>
              <a:gd name="connsiteY0" fmla="*/ 0 h 497197"/>
              <a:gd name="connsiteX1" fmla="*/ 1495651 w 1788699"/>
              <a:gd name="connsiteY1" fmla="*/ 0 h 497197"/>
              <a:gd name="connsiteX2" fmla="*/ 1788699 w 1788699"/>
              <a:gd name="connsiteY2" fmla="*/ 248599 h 497197"/>
              <a:gd name="connsiteX3" fmla="*/ 1495651 w 1788699"/>
              <a:gd name="connsiteY3" fmla="*/ 497197 h 497197"/>
              <a:gd name="connsiteX4" fmla="*/ 0 w 1788699"/>
              <a:gd name="connsiteY4" fmla="*/ 497197 h 497197"/>
              <a:gd name="connsiteX5" fmla="*/ 0 w 1788699"/>
              <a:gd name="connsiteY5" fmla="*/ 0 h 497197"/>
              <a:gd name="connsiteX0" fmla="*/ 0 w 1845849"/>
              <a:gd name="connsiteY0" fmla="*/ 0 h 497197"/>
              <a:gd name="connsiteX1" fmla="*/ 1495651 w 1845849"/>
              <a:gd name="connsiteY1" fmla="*/ 0 h 497197"/>
              <a:gd name="connsiteX2" fmla="*/ 1845849 w 1845849"/>
              <a:gd name="connsiteY2" fmla="*/ 949 h 497197"/>
              <a:gd name="connsiteX3" fmla="*/ 1495651 w 1845849"/>
              <a:gd name="connsiteY3" fmla="*/ 497197 h 497197"/>
              <a:gd name="connsiteX4" fmla="*/ 0 w 1845849"/>
              <a:gd name="connsiteY4" fmla="*/ 497197 h 497197"/>
              <a:gd name="connsiteX5" fmla="*/ 0 w 1845849"/>
              <a:gd name="connsiteY5" fmla="*/ 0 h 4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849" h="497197">
                <a:moveTo>
                  <a:pt x="0" y="0"/>
                </a:moveTo>
                <a:lnTo>
                  <a:pt x="1495651" y="0"/>
                </a:lnTo>
                <a:lnTo>
                  <a:pt x="1845849" y="949"/>
                </a:lnTo>
                <a:lnTo>
                  <a:pt x="1495651" y="497197"/>
                </a:lnTo>
                <a:lnTo>
                  <a:pt x="0" y="497197"/>
                </a:lnTo>
                <a:lnTo>
                  <a:pt x="0" y="0"/>
                </a:lnTo>
                <a:close/>
              </a:path>
            </a:pathLst>
          </a:cu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break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279AC4-6120-3CE7-0DEA-20166F70B929}"/>
              </a:ext>
            </a:extLst>
          </p:cNvPr>
          <p:cNvCxnSpPr/>
          <p:nvPr/>
        </p:nvCxnSpPr>
        <p:spPr>
          <a:xfrm>
            <a:off x="7016750" y="1962150"/>
            <a:ext cx="382270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506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53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52687"/>
              </p:ext>
            </p:extLst>
          </p:nvPr>
        </p:nvGraphicFramePr>
        <p:xfrm>
          <a:off x="1746251" y="136139"/>
          <a:ext cx="4034512" cy="658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881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802681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22950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531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53880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1693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1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7783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1766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63041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z 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8025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47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2DD9E6-81B8-EC5C-A0C4-0B4CC62EC78F}"/>
              </a:ext>
            </a:extLst>
          </p:cNvPr>
          <p:cNvSpPr txBox="1"/>
          <p:nvPr/>
        </p:nvSpPr>
        <p:spPr>
          <a:xfrm>
            <a:off x="6381749" y="1387413"/>
            <a:ext cx="3151862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b){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c = a + b;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y = 2;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z = foo(x, y);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05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744CDA-3583-D32A-852B-A6E92CB02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7185"/>
              </p:ext>
            </p:extLst>
          </p:nvPr>
        </p:nvGraphicFramePr>
        <p:xfrm>
          <a:off x="6381749" y="136139"/>
          <a:ext cx="2882900" cy="754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251509">
                <a:tc>
                  <a:txBody>
                    <a:bodyPr/>
                    <a:lstStyle/>
                    <a:p>
                      <a:r>
                        <a:rPr lang="en-US" sz="1050" dirty="0"/>
                        <a:t>Register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Register Contents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44326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Stack Pointer (R1)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44326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Program Counter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0xC014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  <p:sp>
        <p:nvSpPr>
          <p:cNvPr id="8" name="Arrow: Pentagon 4">
            <a:extLst>
              <a:ext uri="{FF2B5EF4-FFF2-40B4-BE49-F238E27FC236}">
                <a16:creationId xmlns:a16="http://schemas.microsoft.com/office/drawing/2014/main" id="{E017DE25-4E7A-5294-CC7A-9901A3EAA05B}"/>
              </a:ext>
            </a:extLst>
          </p:cNvPr>
          <p:cNvSpPr/>
          <p:nvPr/>
        </p:nvSpPr>
        <p:spPr>
          <a:xfrm flipH="1">
            <a:off x="8172448" y="3016250"/>
            <a:ext cx="869952" cy="190500"/>
          </a:xfrm>
          <a:custGeom>
            <a:avLst/>
            <a:gdLst>
              <a:gd name="connsiteX0" fmla="*/ 0 w 1788699"/>
              <a:gd name="connsiteY0" fmla="*/ 0 h 497197"/>
              <a:gd name="connsiteX1" fmla="*/ 1495651 w 1788699"/>
              <a:gd name="connsiteY1" fmla="*/ 0 h 497197"/>
              <a:gd name="connsiteX2" fmla="*/ 1788699 w 1788699"/>
              <a:gd name="connsiteY2" fmla="*/ 248599 h 497197"/>
              <a:gd name="connsiteX3" fmla="*/ 1495651 w 1788699"/>
              <a:gd name="connsiteY3" fmla="*/ 497197 h 497197"/>
              <a:gd name="connsiteX4" fmla="*/ 0 w 1788699"/>
              <a:gd name="connsiteY4" fmla="*/ 497197 h 497197"/>
              <a:gd name="connsiteX5" fmla="*/ 0 w 1788699"/>
              <a:gd name="connsiteY5" fmla="*/ 0 h 497197"/>
              <a:gd name="connsiteX0" fmla="*/ 0 w 1845849"/>
              <a:gd name="connsiteY0" fmla="*/ 0 h 497197"/>
              <a:gd name="connsiteX1" fmla="*/ 1495651 w 1845849"/>
              <a:gd name="connsiteY1" fmla="*/ 0 h 497197"/>
              <a:gd name="connsiteX2" fmla="*/ 1845849 w 1845849"/>
              <a:gd name="connsiteY2" fmla="*/ 949 h 497197"/>
              <a:gd name="connsiteX3" fmla="*/ 1495651 w 1845849"/>
              <a:gd name="connsiteY3" fmla="*/ 497197 h 497197"/>
              <a:gd name="connsiteX4" fmla="*/ 0 w 1845849"/>
              <a:gd name="connsiteY4" fmla="*/ 497197 h 497197"/>
              <a:gd name="connsiteX5" fmla="*/ 0 w 1845849"/>
              <a:gd name="connsiteY5" fmla="*/ 0 h 4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849" h="497197">
                <a:moveTo>
                  <a:pt x="0" y="0"/>
                </a:moveTo>
                <a:lnTo>
                  <a:pt x="1495651" y="0"/>
                </a:lnTo>
                <a:lnTo>
                  <a:pt x="1845849" y="949"/>
                </a:lnTo>
                <a:lnTo>
                  <a:pt x="1495651" y="497197"/>
                </a:lnTo>
                <a:lnTo>
                  <a:pt x="0" y="497197"/>
                </a:lnTo>
                <a:lnTo>
                  <a:pt x="0" y="0"/>
                </a:lnTo>
                <a:close/>
              </a:path>
            </a:pathLst>
          </a:cu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break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6D8E24-95AD-5A01-4B0A-F212C51324E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762750" y="3016250"/>
            <a:ext cx="227965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CE243AB-9A46-CFC3-9508-27536C4504E8}"/>
              </a:ext>
            </a:extLst>
          </p:cNvPr>
          <p:cNvSpPr/>
          <p:nvPr/>
        </p:nvSpPr>
        <p:spPr>
          <a:xfrm rot="5400000">
            <a:off x="4703570" y="5792983"/>
            <a:ext cx="1533909" cy="3238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</p:spTree>
    <p:extLst>
      <p:ext uri="{BB962C8B-B14F-4D97-AF65-F5344CB8AC3E}">
        <p14:creationId xmlns:p14="http://schemas.microsoft.com/office/powerpoint/2010/main" val="151565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/>
        </p:nvGraphicFramePr>
        <p:xfrm>
          <a:off x="1746251" y="136139"/>
          <a:ext cx="4034512" cy="658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881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802681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22950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a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b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c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531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return address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53880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0xC0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1693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1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7783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1766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0b0000 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63041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F0055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z </a:t>
                      </a: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8025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0bXXXX XXXX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0x03FD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479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B37AC4E-81EC-8F38-163D-18C7D8DF1A04}"/>
              </a:ext>
            </a:extLst>
          </p:cNvPr>
          <p:cNvSpPr/>
          <p:nvPr/>
        </p:nvSpPr>
        <p:spPr>
          <a:xfrm rot="5400000">
            <a:off x="4703570" y="5792983"/>
            <a:ext cx="1533909" cy="3238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FF21B-FA33-7D70-F8C8-2BBBE3DF9A18}"/>
              </a:ext>
            </a:extLst>
          </p:cNvPr>
          <p:cNvSpPr/>
          <p:nvPr/>
        </p:nvSpPr>
        <p:spPr>
          <a:xfrm rot="5400000">
            <a:off x="4451348" y="4006853"/>
            <a:ext cx="2038352" cy="3238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49637-B75D-AC38-523B-F25B64A2333D}"/>
              </a:ext>
            </a:extLst>
          </p:cNvPr>
          <p:cNvSpPr txBox="1"/>
          <p:nvPr/>
        </p:nvSpPr>
        <p:spPr>
          <a:xfrm>
            <a:off x="6381749" y="1387413"/>
            <a:ext cx="3151862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b){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c = a + b;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y = 2;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z = foo(x, y);</a:t>
            </a:r>
          </a:p>
          <a:p>
            <a:pPr algn="l"/>
            <a:endParaRPr lang="en-US" sz="1050" dirty="0">
              <a:latin typeface="Consolas" panose="020B0609020204030204" pitchFamily="49" charset="0"/>
            </a:endParaRP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algn="l"/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05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E7609EF-64F9-4FB7-9210-F25F326FA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098738"/>
              </p:ext>
            </p:extLst>
          </p:nvPr>
        </p:nvGraphicFramePr>
        <p:xfrm>
          <a:off x="6381749" y="136139"/>
          <a:ext cx="2882900" cy="754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450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251509">
                <a:tc>
                  <a:txBody>
                    <a:bodyPr/>
                    <a:lstStyle/>
                    <a:p>
                      <a:r>
                        <a:rPr lang="en-US" sz="1050" dirty="0"/>
                        <a:t>Register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Register Contents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44326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Stack Pointer (R1)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0x03F0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44326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Program Counter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0xC02A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  <p:sp>
        <p:nvSpPr>
          <p:cNvPr id="11" name="Arrow: Pentagon 4">
            <a:extLst>
              <a:ext uri="{FF2B5EF4-FFF2-40B4-BE49-F238E27FC236}">
                <a16:creationId xmlns:a16="http://schemas.microsoft.com/office/drawing/2014/main" id="{16A521B1-BEA7-1F23-B24B-146ECE76CFDC}"/>
              </a:ext>
            </a:extLst>
          </p:cNvPr>
          <p:cNvSpPr/>
          <p:nvPr/>
        </p:nvSpPr>
        <p:spPr>
          <a:xfrm flipH="1">
            <a:off x="8172448" y="1765300"/>
            <a:ext cx="869952" cy="190500"/>
          </a:xfrm>
          <a:custGeom>
            <a:avLst/>
            <a:gdLst>
              <a:gd name="connsiteX0" fmla="*/ 0 w 1788699"/>
              <a:gd name="connsiteY0" fmla="*/ 0 h 497197"/>
              <a:gd name="connsiteX1" fmla="*/ 1495651 w 1788699"/>
              <a:gd name="connsiteY1" fmla="*/ 0 h 497197"/>
              <a:gd name="connsiteX2" fmla="*/ 1788699 w 1788699"/>
              <a:gd name="connsiteY2" fmla="*/ 248599 h 497197"/>
              <a:gd name="connsiteX3" fmla="*/ 1495651 w 1788699"/>
              <a:gd name="connsiteY3" fmla="*/ 497197 h 497197"/>
              <a:gd name="connsiteX4" fmla="*/ 0 w 1788699"/>
              <a:gd name="connsiteY4" fmla="*/ 497197 h 497197"/>
              <a:gd name="connsiteX5" fmla="*/ 0 w 1788699"/>
              <a:gd name="connsiteY5" fmla="*/ 0 h 497197"/>
              <a:gd name="connsiteX0" fmla="*/ 0 w 1845849"/>
              <a:gd name="connsiteY0" fmla="*/ 0 h 497197"/>
              <a:gd name="connsiteX1" fmla="*/ 1495651 w 1845849"/>
              <a:gd name="connsiteY1" fmla="*/ 0 h 497197"/>
              <a:gd name="connsiteX2" fmla="*/ 1845849 w 1845849"/>
              <a:gd name="connsiteY2" fmla="*/ 949 h 497197"/>
              <a:gd name="connsiteX3" fmla="*/ 1495651 w 1845849"/>
              <a:gd name="connsiteY3" fmla="*/ 497197 h 497197"/>
              <a:gd name="connsiteX4" fmla="*/ 0 w 1845849"/>
              <a:gd name="connsiteY4" fmla="*/ 497197 h 497197"/>
              <a:gd name="connsiteX5" fmla="*/ 0 w 1845849"/>
              <a:gd name="connsiteY5" fmla="*/ 0 h 4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849" h="497197">
                <a:moveTo>
                  <a:pt x="0" y="0"/>
                </a:moveTo>
                <a:lnTo>
                  <a:pt x="1495651" y="0"/>
                </a:lnTo>
                <a:lnTo>
                  <a:pt x="1845849" y="949"/>
                </a:lnTo>
                <a:lnTo>
                  <a:pt x="1495651" y="497197"/>
                </a:lnTo>
                <a:lnTo>
                  <a:pt x="0" y="497197"/>
                </a:lnTo>
                <a:lnTo>
                  <a:pt x="0" y="0"/>
                </a:lnTo>
                <a:close/>
              </a:path>
            </a:pathLst>
          </a:cu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break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5C61DA-505B-E065-4CA3-F7854D186F7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762750" y="1765300"/>
            <a:ext cx="227965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85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85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40185"/>
              </p:ext>
            </p:extLst>
          </p:nvPr>
        </p:nvGraphicFramePr>
        <p:xfrm>
          <a:off x="1479884" y="136139"/>
          <a:ext cx="4300880" cy="658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732190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97090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SUB.W #6, SP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0x31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MOV.W #5, 0(SP)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MOV.W #2, 2(SP)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MOV.W SP, R12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0x2C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0xC00F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MOV.W 2(SP), R13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8531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53880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1693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1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r>
                        <a:rPr lang="en-US" sz="1050" dirty="0"/>
                        <a:t>CALL #foo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7783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71766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63041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0xC0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80252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MOV.W R12, 4(SP)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47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62A9B0-0DD1-E883-C62C-6E759D3BD350}"/>
              </a:ext>
            </a:extLst>
          </p:cNvPr>
          <p:cNvSpPr txBox="1"/>
          <p:nvPr/>
        </p:nvSpPr>
        <p:spPr>
          <a:xfrm>
            <a:off x="6411240" y="1342735"/>
            <a:ext cx="31518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foo(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a,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b){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c = a + b;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y = 2;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z = foo(x, y);</a:t>
            </a:r>
          </a:p>
          <a:p>
            <a:pPr algn="l"/>
            <a:endParaRPr lang="en-US" sz="1800" dirty="0">
              <a:latin typeface="Consolas" panose="020B0609020204030204" pitchFamily="49" charset="0"/>
            </a:endParaRP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652D79-C364-38E8-BF19-15F724A36469}"/>
              </a:ext>
            </a:extLst>
          </p:cNvPr>
          <p:cNvGraphicFramePr>
            <a:graphicFrameLocks noGrp="1"/>
          </p:cNvGraphicFramePr>
          <p:nvPr/>
        </p:nvGraphicFramePr>
        <p:xfrm>
          <a:off x="6255924" y="126229"/>
          <a:ext cx="3151862" cy="87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931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575931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305265">
                <a:tc>
                  <a:txBody>
                    <a:bodyPr/>
                    <a:lstStyle/>
                    <a:p>
                      <a:r>
                        <a:rPr lang="en-US" sz="1100" dirty="0"/>
                        <a:t>Register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Register Contents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Stack Pointer (R1)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0x03F8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Program Counter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0xC02A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00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71C6B5-E7BE-D319-2A4C-BF0689ACF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423358"/>
              </p:ext>
            </p:extLst>
          </p:nvPr>
        </p:nvGraphicFramePr>
        <p:xfrm>
          <a:off x="1479884" y="136139"/>
          <a:ext cx="4300880" cy="4306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732190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  <a:gridCol w="1197090">
                  <a:extLst>
                    <a:ext uri="{9D8B030D-6E8A-4147-A177-3AD203B41FA5}">
                      <a16:colId xmlns:a16="http://schemas.microsoft.com/office/drawing/2014/main" val="846150840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Memory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ADD.B #10, R5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ADD.B #15, R5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ADD.B #20, R5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3020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288437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804596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17265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ADD.B #25, R5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474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0xC01F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97410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4129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0x00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dirty="0"/>
                        <a:t>0xC021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633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62A9B0-0DD1-E883-C62C-6E759D3BD350}"/>
              </a:ext>
            </a:extLst>
          </p:cNvPr>
          <p:cNvSpPr txBox="1"/>
          <p:nvPr/>
        </p:nvSpPr>
        <p:spPr>
          <a:xfrm>
            <a:off x="6411238" y="2541923"/>
            <a:ext cx="3685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x = x + 10 + 15 + 20 + 25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652D79-C364-38E8-BF19-15F724A36469}"/>
              </a:ext>
            </a:extLst>
          </p:cNvPr>
          <p:cNvGraphicFramePr>
            <a:graphicFrameLocks noGrp="1"/>
          </p:cNvGraphicFramePr>
          <p:nvPr/>
        </p:nvGraphicFramePr>
        <p:xfrm>
          <a:off x="6255924" y="126229"/>
          <a:ext cx="3151862" cy="877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5931">
                  <a:extLst>
                    <a:ext uri="{9D8B030D-6E8A-4147-A177-3AD203B41FA5}">
                      <a16:colId xmlns:a16="http://schemas.microsoft.com/office/drawing/2014/main" val="2702324379"/>
                    </a:ext>
                  </a:extLst>
                </a:gridCol>
                <a:gridCol w="1575931">
                  <a:extLst>
                    <a:ext uri="{9D8B030D-6E8A-4147-A177-3AD203B41FA5}">
                      <a16:colId xmlns:a16="http://schemas.microsoft.com/office/drawing/2014/main" val="2564629341"/>
                    </a:ext>
                  </a:extLst>
                </a:gridCol>
              </a:tblGrid>
              <a:tr h="305265">
                <a:tc>
                  <a:txBody>
                    <a:bodyPr/>
                    <a:lstStyle/>
                    <a:p>
                      <a:r>
                        <a:rPr lang="en-US" sz="1100" dirty="0"/>
                        <a:t>Register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Register Contents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422070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Stack Pointer (R1)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0x03F8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737554"/>
                  </a:ext>
                </a:extLst>
              </a:tr>
              <a:tr h="285904"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Program Counter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0xC02A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7535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39F41C-7739-1D06-281F-6CD5903C8FC5}"/>
              </a:ext>
            </a:extLst>
          </p:cNvPr>
          <p:cNvSpPr txBox="1"/>
          <p:nvPr/>
        </p:nvSpPr>
        <p:spPr>
          <a:xfrm>
            <a:off x="6883661" y="3684591"/>
            <a:ext cx="2673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#10,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#15,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#20,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#25, R5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463E3C4-8BB4-2143-4800-0CE9C4FC2F67}"/>
              </a:ext>
            </a:extLst>
          </p:cNvPr>
          <p:cNvSpPr/>
          <p:nvPr/>
        </p:nvSpPr>
        <p:spPr>
          <a:xfrm>
            <a:off x="7032886" y="2911255"/>
            <a:ext cx="2374900" cy="773336"/>
          </a:xfrm>
          <a:prstGeom prst="downArrow">
            <a:avLst>
              <a:gd name="adj1" fmla="val 7566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</a:t>
            </a:r>
          </a:p>
        </p:txBody>
      </p:sp>
    </p:spTree>
    <p:extLst>
      <p:ext uri="{BB962C8B-B14F-4D97-AF65-F5344CB8AC3E}">
        <p14:creationId xmlns:p14="http://schemas.microsoft.com/office/powerpoint/2010/main" val="1793103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561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CB9DC0-75ED-781A-4D9C-97C8E91D5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782767"/>
              </p:ext>
            </p:extLst>
          </p:nvPr>
        </p:nvGraphicFramePr>
        <p:xfrm>
          <a:off x="4734561" y="2376419"/>
          <a:ext cx="2911562" cy="2279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517">
                  <a:extLst>
                    <a:ext uri="{9D8B030D-6E8A-4147-A177-3AD203B41FA5}">
                      <a16:colId xmlns:a16="http://schemas.microsoft.com/office/drawing/2014/main" val="2830801898"/>
                    </a:ext>
                  </a:extLst>
                </a:gridCol>
                <a:gridCol w="1698045">
                  <a:extLst>
                    <a:ext uri="{9D8B030D-6E8A-4147-A177-3AD203B41FA5}">
                      <a16:colId xmlns:a16="http://schemas.microsoft.com/office/drawing/2014/main" val="1174526306"/>
                    </a:ext>
                  </a:extLst>
                </a:gridCol>
              </a:tblGrid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Address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37056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 (0b0000)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0b1101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4353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1 (0b0001)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0b0100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3223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2 (0b0010)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0b1001 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54025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3 (0b0011)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0b0100 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80638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4 (0b0100)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0b0110 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28485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5 (0b0101)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0b0100 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86814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6 (0b0110)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0b1001 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839161"/>
                  </a:ext>
                </a:extLst>
              </a:tr>
              <a:tr h="2532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0 (0b0111)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0b0100 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181285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A63C83A-4C93-354F-7CC9-441900159164}"/>
              </a:ext>
            </a:extLst>
          </p:cNvPr>
          <p:cNvCxnSpPr>
            <a:cxnSpLocks/>
          </p:cNvCxnSpPr>
          <p:nvPr/>
        </p:nvCxnSpPr>
        <p:spPr>
          <a:xfrm>
            <a:off x="5678170" y="275082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F2A5B7-E1CB-884E-1502-47E65A6F8960}"/>
              </a:ext>
            </a:extLst>
          </p:cNvPr>
          <p:cNvCxnSpPr>
            <a:cxnSpLocks/>
          </p:cNvCxnSpPr>
          <p:nvPr/>
        </p:nvCxnSpPr>
        <p:spPr>
          <a:xfrm>
            <a:off x="5678170" y="300228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551406-3600-02D0-3583-0A28D2F00A2B}"/>
              </a:ext>
            </a:extLst>
          </p:cNvPr>
          <p:cNvCxnSpPr>
            <a:cxnSpLocks/>
          </p:cNvCxnSpPr>
          <p:nvPr/>
        </p:nvCxnSpPr>
        <p:spPr>
          <a:xfrm>
            <a:off x="5678170" y="326136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157C32-F8FC-F8BC-6B67-24ACB7A0FDB6}"/>
              </a:ext>
            </a:extLst>
          </p:cNvPr>
          <p:cNvCxnSpPr>
            <a:cxnSpLocks/>
          </p:cNvCxnSpPr>
          <p:nvPr/>
        </p:nvCxnSpPr>
        <p:spPr>
          <a:xfrm>
            <a:off x="5678170" y="351282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9CE0-DB9D-42C2-9399-8AD43D243A43}"/>
              </a:ext>
            </a:extLst>
          </p:cNvPr>
          <p:cNvCxnSpPr>
            <a:cxnSpLocks/>
          </p:cNvCxnSpPr>
          <p:nvPr/>
        </p:nvCxnSpPr>
        <p:spPr>
          <a:xfrm>
            <a:off x="5666740" y="374142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AA9D81-49C1-66EF-8DCD-AC78A8959B7F}"/>
              </a:ext>
            </a:extLst>
          </p:cNvPr>
          <p:cNvCxnSpPr>
            <a:cxnSpLocks/>
          </p:cNvCxnSpPr>
          <p:nvPr/>
        </p:nvCxnSpPr>
        <p:spPr>
          <a:xfrm>
            <a:off x="5666740" y="399288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622E6F-8804-4A09-1002-7AEA70D137BA}"/>
              </a:ext>
            </a:extLst>
          </p:cNvPr>
          <p:cNvCxnSpPr>
            <a:cxnSpLocks/>
          </p:cNvCxnSpPr>
          <p:nvPr/>
        </p:nvCxnSpPr>
        <p:spPr>
          <a:xfrm>
            <a:off x="5666740" y="425196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24FE32-29EF-0F8B-5161-EA96AF1CA4A5}"/>
              </a:ext>
            </a:extLst>
          </p:cNvPr>
          <p:cNvCxnSpPr>
            <a:cxnSpLocks/>
          </p:cNvCxnSpPr>
          <p:nvPr/>
        </p:nvCxnSpPr>
        <p:spPr>
          <a:xfrm>
            <a:off x="5666740" y="4503420"/>
            <a:ext cx="220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04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506CA-16C0-C364-366B-D1891CAF8282}"/>
              </a:ext>
            </a:extLst>
          </p:cNvPr>
          <p:cNvSpPr/>
          <p:nvPr/>
        </p:nvSpPr>
        <p:spPr>
          <a:xfrm>
            <a:off x="2863850" y="793750"/>
            <a:ext cx="2292350" cy="3022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Machine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984ECE-996A-3524-6C2B-72E44EB56F3A}"/>
              </a:ext>
            </a:extLst>
          </p:cNvPr>
          <p:cNvSpPr/>
          <p:nvPr/>
        </p:nvSpPr>
        <p:spPr>
          <a:xfrm>
            <a:off x="3184525" y="1352550"/>
            <a:ext cx="1751398" cy="9525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 Compiler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3EBB3-2ACA-1F3C-9457-83496A0A4344}"/>
              </a:ext>
            </a:extLst>
          </p:cNvPr>
          <p:cNvSpPr/>
          <p:nvPr/>
        </p:nvSpPr>
        <p:spPr>
          <a:xfrm>
            <a:off x="3184525" y="2560279"/>
            <a:ext cx="1751398" cy="10592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10E72-69E9-3CE1-15DA-82378065CC61}"/>
              </a:ext>
            </a:extLst>
          </p:cNvPr>
          <p:cNvSpPr/>
          <p:nvPr/>
        </p:nvSpPr>
        <p:spPr>
          <a:xfrm>
            <a:off x="6299200" y="793750"/>
            <a:ext cx="2292350" cy="1748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Machine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73B56C-3E00-822A-4D77-2B129F967240}"/>
              </a:ext>
            </a:extLst>
          </p:cNvPr>
          <p:cNvSpPr/>
          <p:nvPr/>
        </p:nvSpPr>
        <p:spPr>
          <a:xfrm>
            <a:off x="6619875" y="1352550"/>
            <a:ext cx="1654175" cy="9525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Compatible Binary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2B42BC-7EDF-2977-88E4-8786CEB98070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4060224" y="2305050"/>
            <a:ext cx="0" cy="255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6BF8C9-C499-375C-5932-F3EB6F66616B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935923" y="1828800"/>
            <a:ext cx="16839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9912D39-3905-E3FC-9C45-7E5AAC2EF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721"/>
          <a:stretch/>
        </p:blipFill>
        <p:spPr>
          <a:xfrm>
            <a:off x="2863850" y="3874729"/>
            <a:ext cx="2390174" cy="18339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B9F610-C15E-3D89-9503-B4C791C17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1" y="3684252"/>
            <a:ext cx="2292350" cy="166577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187617-9C95-5294-DE18-D77D95BE3712}"/>
              </a:ext>
            </a:extLst>
          </p:cNvPr>
          <p:cNvCxnSpPr>
            <a:cxnSpLocks/>
          </p:cNvCxnSpPr>
          <p:nvPr/>
        </p:nvCxnSpPr>
        <p:spPr>
          <a:xfrm>
            <a:off x="5254024" y="4686300"/>
            <a:ext cx="9689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946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0DA0848-C6AF-85FB-082F-E377D64E117B}"/>
              </a:ext>
            </a:extLst>
          </p:cNvPr>
          <p:cNvSpPr/>
          <p:nvPr/>
        </p:nvSpPr>
        <p:spPr>
          <a:xfrm>
            <a:off x="4311650" y="1162050"/>
            <a:ext cx="2914650" cy="717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Preprocessor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ABCB9B8-08D9-F1C7-7286-74C2FB3A335B}"/>
              </a:ext>
            </a:extLst>
          </p:cNvPr>
          <p:cNvSpPr/>
          <p:nvPr/>
        </p:nvSpPr>
        <p:spPr>
          <a:xfrm>
            <a:off x="4311650" y="2403475"/>
            <a:ext cx="2914650" cy="717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3EE9BA-EE79-07F6-4A45-95B568D0926E}"/>
              </a:ext>
            </a:extLst>
          </p:cNvPr>
          <p:cNvSpPr/>
          <p:nvPr/>
        </p:nvSpPr>
        <p:spPr>
          <a:xfrm>
            <a:off x="4311650" y="3644900"/>
            <a:ext cx="2914650" cy="717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594B3C-201F-785E-A6BD-A42F1D2795ED}"/>
              </a:ext>
            </a:extLst>
          </p:cNvPr>
          <p:cNvSpPr/>
          <p:nvPr/>
        </p:nvSpPr>
        <p:spPr>
          <a:xfrm>
            <a:off x="4311650" y="4829177"/>
            <a:ext cx="2914650" cy="7175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292679-76D5-BA83-0DDC-8343F274C35E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5768975" y="1879600"/>
            <a:ext cx="0" cy="523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7E7B4-B0F2-2210-174D-A1E537BBFD14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768975" y="3121025"/>
            <a:ext cx="0" cy="523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77E085-F93A-9808-7123-40D9641D38E7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5768975" y="4362450"/>
            <a:ext cx="0" cy="4667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208A80-02FC-E530-D40E-AF7E6EFF676D}"/>
              </a:ext>
            </a:extLst>
          </p:cNvPr>
          <p:cNvCxnSpPr>
            <a:cxnSpLocks/>
            <a:stCxn id="5" idx="4"/>
            <a:endCxn id="28" idx="0"/>
          </p:cNvCxnSpPr>
          <p:nvPr/>
        </p:nvCxnSpPr>
        <p:spPr>
          <a:xfrm>
            <a:off x="5768975" y="5546727"/>
            <a:ext cx="0" cy="4667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63158E-0D6A-F40A-6FA7-715FC1189FCB}"/>
              </a:ext>
            </a:extLst>
          </p:cNvPr>
          <p:cNvCxnSpPr>
            <a:cxnSpLocks/>
            <a:stCxn id="26" idx="2"/>
            <a:endCxn id="2" idx="0"/>
          </p:cNvCxnSpPr>
          <p:nvPr/>
        </p:nvCxnSpPr>
        <p:spPr>
          <a:xfrm>
            <a:off x="5768975" y="602179"/>
            <a:ext cx="0" cy="559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AC5C2FB-F8CC-C1FB-4F83-504B18FBD5AC}"/>
              </a:ext>
            </a:extLst>
          </p:cNvPr>
          <p:cNvSpPr txBox="1"/>
          <p:nvPr/>
        </p:nvSpPr>
        <p:spPr>
          <a:xfrm>
            <a:off x="4845050" y="232847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390146-03F6-1848-6EE6-2A4B8D93CE40}"/>
              </a:ext>
            </a:extLst>
          </p:cNvPr>
          <p:cNvSpPr txBox="1"/>
          <p:nvPr/>
        </p:nvSpPr>
        <p:spPr>
          <a:xfrm>
            <a:off x="4749800" y="6013454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Executable Code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7AAB5E-ABD1-25CE-5F2D-306CBACAE8C7}"/>
              </a:ext>
            </a:extLst>
          </p:cNvPr>
          <p:cNvSpPr txBox="1"/>
          <p:nvPr/>
        </p:nvSpPr>
        <p:spPr>
          <a:xfrm>
            <a:off x="5673725" y="4411147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Object Code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F4AC75-FE65-FB0E-FF45-A5435EE130FC}"/>
              </a:ext>
            </a:extLst>
          </p:cNvPr>
          <p:cNvSpPr txBox="1"/>
          <p:nvPr/>
        </p:nvSpPr>
        <p:spPr>
          <a:xfrm>
            <a:off x="5661025" y="3184525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Assembly Code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598A03-37DA-5520-CD5A-359E69A2051C}"/>
              </a:ext>
            </a:extLst>
          </p:cNvPr>
          <p:cNvSpPr txBox="1"/>
          <p:nvPr/>
        </p:nvSpPr>
        <p:spPr>
          <a:xfrm>
            <a:off x="5673725" y="1947345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Expanded Code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5286F3-C413-3E30-DE57-D5A482C28BD2}"/>
              </a:ext>
            </a:extLst>
          </p:cNvPr>
          <p:cNvSpPr txBox="1"/>
          <p:nvPr/>
        </p:nvSpPr>
        <p:spPr>
          <a:xfrm>
            <a:off x="7421562" y="4411147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Libraries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AF3C7A-1080-3C39-7BC1-8630396690E6}"/>
              </a:ext>
            </a:extLst>
          </p:cNvPr>
          <p:cNvSpPr txBox="1"/>
          <p:nvPr/>
        </p:nvSpPr>
        <p:spPr>
          <a:xfrm>
            <a:off x="2470150" y="4411147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Object Files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7845E3-17C3-1885-B979-6C062AD71F65}"/>
              </a:ext>
            </a:extLst>
          </p:cNvPr>
          <p:cNvCxnSpPr>
            <a:cxnSpLocks/>
            <a:stCxn id="35" idx="2"/>
            <a:endCxn id="5" idx="2"/>
          </p:cNvCxnSpPr>
          <p:nvPr/>
        </p:nvCxnSpPr>
        <p:spPr>
          <a:xfrm>
            <a:off x="3489325" y="4780479"/>
            <a:ext cx="822325" cy="407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1C86FEE-B5CC-C099-1125-6E27265768C2}"/>
              </a:ext>
            </a:extLst>
          </p:cNvPr>
          <p:cNvCxnSpPr>
            <a:cxnSpLocks/>
            <a:stCxn id="34" idx="2"/>
            <a:endCxn id="5" idx="6"/>
          </p:cNvCxnSpPr>
          <p:nvPr/>
        </p:nvCxnSpPr>
        <p:spPr>
          <a:xfrm flipH="1">
            <a:off x="7226300" y="4780479"/>
            <a:ext cx="1214437" cy="407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1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CE83A0-17E4-A9A0-9D57-461E62F90F7C}"/>
              </a:ext>
            </a:extLst>
          </p:cNvPr>
          <p:cNvSpPr txBox="1"/>
          <p:nvPr/>
        </p:nvSpPr>
        <p:spPr>
          <a:xfrm>
            <a:off x="4145026" y="2022610"/>
            <a:ext cx="2673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#10,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#15,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#20, R5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add.b</a:t>
            </a: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   #25, R5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90743-87AB-0A02-2F51-C88BE5C6BBEF}"/>
              </a:ext>
            </a:extLst>
          </p:cNvPr>
          <p:cNvSpPr txBox="1"/>
          <p:nvPr/>
        </p:nvSpPr>
        <p:spPr>
          <a:xfrm>
            <a:off x="3394552" y="3841750"/>
            <a:ext cx="4174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01010011000001010000000000001010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01010011000001010000000000001111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01010011000001010000000000010100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ea typeface="Yu Mincho" panose="02020400000000000000" pitchFamily="18" charset="-128"/>
                <a:cs typeface="Times New Roman" panose="02020603050405020304" pitchFamily="18" charset="0"/>
              </a:rPr>
              <a:t>01010011000001010000000000011001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63EFA3FE-DA2D-89D6-E73C-D79034615817}"/>
              </a:ext>
            </a:extLst>
          </p:cNvPr>
          <p:cNvSpPr/>
          <p:nvPr/>
        </p:nvSpPr>
        <p:spPr>
          <a:xfrm>
            <a:off x="4438649" y="3099828"/>
            <a:ext cx="2086105" cy="666414"/>
          </a:xfrm>
          <a:prstGeom prst="downArrow">
            <a:avLst>
              <a:gd name="adj1" fmla="val 75668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114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5074</TotalTime>
  <Words>1029</Words>
  <Application>Microsoft Office PowerPoint</Application>
  <PresentationFormat>Widescreen</PresentationFormat>
  <Paragraphs>501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51</cp:revision>
  <dcterms:created xsi:type="dcterms:W3CDTF">2024-05-02T12:32:41Z</dcterms:created>
  <dcterms:modified xsi:type="dcterms:W3CDTF">2025-04-04T14:29:25Z</dcterms:modified>
</cp:coreProperties>
</file>